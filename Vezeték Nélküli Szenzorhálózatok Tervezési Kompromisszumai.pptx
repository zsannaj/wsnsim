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762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171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387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988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891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748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165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704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529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087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283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0241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6100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137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62879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2658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271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9EA0488-13CB-4B22-8D42-DAA231CEDA54}" type="datetimeFigureOut">
              <a:rPr lang="hu-HU" smtClean="0"/>
              <a:t>2026. 05. 16.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2561F58-1720-4370-9A13-EE87A465DEA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82877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3309F9-8993-952A-B8A1-B2A2130D7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815" y="685800"/>
            <a:ext cx="9828370" cy="3200400"/>
          </a:xfrm>
        </p:spPr>
        <p:txBody>
          <a:bodyPr/>
          <a:lstStyle/>
          <a:p>
            <a:r>
              <a:rPr lang="hu-HU" dirty="0"/>
              <a:t>Vezeték Nélküli Szenzorhálózatok Tervezési Kompromisszumai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FC91FF5-DCEF-CDC4-C6EB-0DE39EC02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4390930"/>
            <a:ext cx="8676222" cy="1400269"/>
          </a:xfrm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9826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B2B82A-B26E-328C-4FD4-3B7CCDD5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Probléma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8D9A75-BBA5-A5B0-79B9-D2956D613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27977"/>
            <a:ext cx="9905998" cy="3763224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Egy 100 csomópontból álló, elosztott vezeték nélküli szenzorhálózat, amely kritikus anomáliákat (pl. géphibákat) figyel.</a:t>
            </a:r>
          </a:p>
          <a:p>
            <a:r>
              <a:rPr lang="hu-HU" b="1" dirty="0"/>
              <a:t>Kihívások (Erőforrás-korlátok):</a:t>
            </a:r>
            <a:endParaRPr lang="hu-HU" dirty="0"/>
          </a:p>
          <a:p>
            <a:pPr lvl="1"/>
            <a:r>
              <a:rPr lang="hu-HU" i="1" dirty="0"/>
              <a:t>Energia:</a:t>
            </a:r>
            <a:r>
              <a:rPr lang="hu-HU" dirty="0"/>
              <a:t> A csomópontok akkumulátorról működnek, az elemcserék költségesek. A rádiózás (</a:t>
            </a:r>
            <a:r>
              <a:rPr lang="hu-HU" dirty="0" err="1"/>
              <a:t>TX</a:t>
            </a:r>
            <a:r>
              <a:rPr lang="hu-HU" dirty="0"/>
              <a:t>/</a:t>
            </a:r>
            <a:r>
              <a:rPr lang="hu-HU" dirty="0" err="1"/>
              <a:t>RX</a:t>
            </a:r>
            <a:r>
              <a:rPr lang="hu-HU" dirty="0"/>
              <a:t>) a legnagyobb fogyasztó.</a:t>
            </a:r>
          </a:p>
          <a:p>
            <a:pPr lvl="1"/>
            <a:r>
              <a:rPr lang="hu-HU" i="1" dirty="0"/>
              <a:t>Sávszélesség:</a:t>
            </a:r>
            <a:r>
              <a:rPr lang="hu-HU" dirty="0"/>
              <a:t> A rádiócsatorna szűkös, az ütközések adatvesztést okoznak.</a:t>
            </a:r>
          </a:p>
          <a:p>
            <a:pPr lvl="1"/>
            <a:r>
              <a:rPr lang="hu-HU" i="1" dirty="0"/>
              <a:t>Biztonság:</a:t>
            </a:r>
            <a:r>
              <a:rPr lang="hu-HU" dirty="0"/>
              <a:t> A nyílt csatorna miatt a hálózat sebezhető a </a:t>
            </a:r>
            <a:r>
              <a:rPr lang="hu-HU" dirty="0" err="1"/>
              <a:t>visszajátszásos</a:t>
            </a:r>
            <a:r>
              <a:rPr lang="hu-HU" dirty="0"/>
              <a:t> (</a:t>
            </a:r>
            <a:r>
              <a:rPr lang="hu-HU" dirty="0" err="1"/>
              <a:t>Replay</a:t>
            </a:r>
            <a:r>
              <a:rPr lang="hu-HU" dirty="0"/>
              <a:t>) támadásokkal szemben.</a:t>
            </a:r>
          </a:p>
          <a:p>
            <a:r>
              <a:rPr lang="hu-HU" b="1" dirty="0"/>
              <a:t>A Mérnöki Cél:</a:t>
            </a:r>
            <a:r>
              <a:rPr lang="hu-HU" dirty="0"/>
              <a:t> Olyan hálózati beállítások (trade-</a:t>
            </a:r>
            <a:r>
              <a:rPr lang="hu-HU" dirty="0" err="1"/>
              <a:t>offok</a:t>
            </a:r>
            <a:r>
              <a:rPr lang="hu-HU" dirty="0"/>
              <a:t>) megtalálása, amelyek garantálják a riasztások célba érését (</a:t>
            </a:r>
            <a:r>
              <a:rPr lang="hu-HU" dirty="0" err="1"/>
              <a:t>PDR</a:t>
            </a:r>
            <a:r>
              <a:rPr lang="hu-HU" dirty="0"/>
              <a:t>), de nem merítik le feleslegesen az akkumulátorokat.</a:t>
            </a:r>
          </a:p>
        </p:txBody>
      </p:sp>
    </p:spTree>
    <p:extLst>
      <p:ext uri="{BB962C8B-B14F-4D97-AF65-F5344CB8AC3E}">
        <p14:creationId xmlns:p14="http://schemas.microsoft.com/office/powerpoint/2010/main" val="709895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F59FA2-8B88-B680-DEAB-25E966CA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002DD6-C61D-9930-E50A-1B5003224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69470"/>
            <a:ext cx="9905998" cy="3124201"/>
          </a:xfrm>
        </p:spPr>
        <p:txBody>
          <a:bodyPr>
            <a:normAutofit/>
          </a:bodyPr>
          <a:lstStyle/>
          <a:p>
            <a:r>
              <a:rPr lang="hu-HU" b="1" dirty="0"/>
              <a:t>A keretrendszer:</a:t>
            </a:r>
            <a:r>
              <a:rPr lang="hu-HU" dirty="0"/>
              <a:t> Saját fejlesztésű, diszkrét eseményű szimulátor (</a:t>
            </a:r>
            <a:r>
              <a:rPr lang="hu-HU" dirty="0" err="1"/>
              <a:t>DES</a:t>
            </a:r>
            <a:r>
              <a:rPr lang="hu-HU" dirty="0"/>
              <a:t>) Pythonban.</a:t>
            </a:r>
          </a:p>
          <a:p>
            <a:r>
              <a:rPr lang="hu-HU" b="1" dirty="0"/>
              <a:t>Implementált Rétegek (A protokollverem):</a:t>
            </a:r>
            <a:endParaRPr lang="hu-HU" dirty="0"/>
          </a:p>
          <a:p>
            <a:pPr lvl="1"/>
            <a:r>
              <a:rPr lang="hu-HU" i="1" dirty="0"/>
              <a:t>Fizikai / MAC:</a:t>
            </a:r>
            <a:r>
              <a:rPr lang="hu-HU" dirty="0"/>
              <a:t> Log-</a:t>
            </a:r>
            <a:r>
              <a:rPr lang="hu-HU" dirty="0" err="1"/>
              <a:t>normal</a:t>
            </a:r>
            <a:r>
              <a:rPr lang="hu-HU" dirty="0"/>
              <a:t> </a:t>
            </a:r>
            <a:r>
              <a:rPr lang="hu-HU" dirty="0" err="1"/>
              <a:t>shadowing</a:t>
            </a:r>
            <a:r>
              <a:rPr lang="hu-HU" dirty="0"/>
              <a:t> csatorna, Állapotgépes energiamodell, </a:t>
            </a:r>
            <a:r>
              <a:rPr lang="hu-HU" dirty="0" err="1"/>
              <a:t>ALOHA</a:t>
            </a:r>
            <a:r>
              <a:rPr lang="hu-HU" dirty="0"/>
              <a:t> és </a:t>
            </a:r>
            <a:r>
              <a:rPr lang="hu-HU" dirty="0" err="1"/>
              <a:t>CSMA</a:t>
            </a:r>
            <a:r>
              <a:rPr lang="hu-HU" dirty="0"/>
              <a:t>/CA közeg-hozzáférés.</a:t>
            </a:r>
          </a:p>
          <a:p>
            <a:pPr lvl="1"/>
            <a:r>
              <a:rPr lang="hu-HU" i="1" dirty="0" err="1"/>
              <a:t>Routing</a:t>
            </a:r>
            <a:r>
              <a:rPr lang="hu-HU" i="1" dirty="0"/>
              <a:t> / </a:t>
            </a:r>
            <a:r>
              <a:rPr lang="hu-HU" i="1" dirty="0" err="1"/>
              <a:t>ARQ</a:t>
            </a:r>
            <a:r>
              <a:rPr lang="hu-HU" i="1" dirty="0"/>
              <a:t>:</a:t>
            </a:r>
            <a:r>
              <a:rPr lang="hu-HU" dirty="0"/>
              <a:t> Sink-fa alapú útválasztás, automatikus </a:t>
            </a:r>
            <a:r>
              <a:rPr lang="hu-HU" dirty="0" err="1"/>
              <a:t>újraküldésekkel</a:t>
            </a:r>
            <a:r>
              <a:rPr lang="hu-HU" dirty="0"/>
              <a:t> (</a:t>
            </a:r>
            <a:r>
              <a:rPr lang="hu-HU" dirty="0" err="1"/>
              <a:t>ARQ</a:t>
            </a:r>
            <a:r>
              <a:rPr lang="hu-HU" dirty="0"/>
              <a:t>).</a:t>
            </a:r>
          </a:p>
          <a:p>
            <a:pPr lvl="1"/>
            <a:r>
              <a:rPr lang="hu-HU" i="1" dirty="0"/>
              <a:t>Intelligencia (Edge </a:t>
            </a:r>
            <a:r>
              <a:rPr lang="hu-HU" i="1" dirty="0" err="1"/>
              <a:t>AI</a:t>
            </a:r>
            <a:r>
              <a:rPr lang="hu-HU" i="1" dirty="0"/>
              <a:t>):</a:t>
            </a:r>
            <a:r>
              <a:rPr lang="hu-HU" dirty="0"/>
              <a:t> </a:t>
            </a:r>
            <a:r>
              <a:rPr lang="hu-HU" dirty="0" err="1"/>
              <a:t>Node</a:t>
            </a:r>
            <a:r>
              <a:rPr lang="hu-HU" dirty="0"/>
              <a:t>-oldali Z-</a:t>
            </a:r>
            <a:r>
              <a:rPr lang="hu-HU" dirty="0" err="1"/>
              <a:t>Score</a:t>
            </a:r>
            <a:r>
              <a:rPr lang="hu-HU" dirty="0"/>
              <a:t> anomáliadetektálás és delta-kódolás.</a:t>
            </a:r>
          </a:p>
          <a:p>
            <a:pPr lvl="1"/>
            <a:r>
              <a:rPr lang="hu-HU" i="1" dirty="0"/>
              <a:t>Biztonság:</a:t>
            </a:r>
            <a:r>
              <a:rPr lang="hu-HU" dirty="0"/>
              <a:t> Szekvenciaszám-alapú </a:t>
            </a:r>
            <a:r>
              <a:rPr lang="hu-HU" dirty="0" err="1"/>
              <a:t>Replay</a:t>
            </a:r>
            <a:r>
              <a:rPr lang="hu-HU" dirty="0"/>
              <a:t> védelem.</a:t>
            </a:r>
          </a:p>
        </p:txBody>
      </p:sp>
    </p:spTree>
    <p:extLst>
      <p:ext uri="{BB962C8B-B14F-4D97-AF65-F5344CB8AC3E}">
        <p14:creationId xmlns:p14="http://schemas.microsoft.com/office/powerpoint/2010/main" val="382229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EF6926-EAE1-7A3A-81B6-AE9B69EC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Kísérletek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25BAF0-5226-CD03-F7CA-021AC6878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32844"/>
            <a:ext cx="9905998" cy="3124201"/>
          </a:xfrm>
        </p:spPr>
        <p:txBody>
          <a:bodyPr>
            <a:normAutofit fontScale="92500" lnSpcReduction="10000"/>
          </a:bodyPr>
          <a:lstStyle/>
          <a:p>
            <a:r>
              <a:rPr lang="hu-HU" b="1" dirty="0"/>
              <a:t>A Módszertan:</a:t>
            </a:r>
            <a:r>
              <a:rPr lang="hu-HU" dirty="0"/>
              <a:t> Design </a:t>
            </a:r>
            <a:r>
              <a:rPr lang="hu-HU" dirty="0" err="1"/>
              <a:t>Space</a:t>
            </a:r>
            <a:r>
              <a:rPr lang="hu-HU" dirty="0"/>
              <a:t> </a:t>
            </a:r>
            <a:r>
              <a:rPr lang="hu-HU" dirty="0" err="1"/>
              <a:t>Exploration</a:t>
            </a:r>
            <a:r>
              <a:rPr lang="hu-HU" dirty="0"/>
              <a:t> (</a:t>
            </a:r>
            <a:r>
              <a:rPr lang="hu-HU" dirty="0" err="1"/>
              <a:t>DSE</a:t>
            </a:r>
            <a:r>
              <a:rPr lang="hu-HU" dirty="0"/>
              <a:t>) paraméter-söpréssel.</a:t>
            </a:r>
          </a:p>
          <a:p>
            <a:r>
              <a:rPr lang="hu-HU" b="1" dirty="0"/>
              <a:t>Vizsgált Paraméterek:</a:t>
            </a:r>
            <a:endParaRPr lang="hu-HU" dirty="0"/>
          </a:p>
          <a:p>
            <a:pPr lvl="1"/>
            <a:r>
              <a:rPr lang="hu-HU" i="1" dirty="0"/>
              <a:t>Adatkapcsolat:</a:t>
            </a:r>
            <a:r>
              <a:rPr lang="hu-HU" dirty="0"/>
              <a:t> </a:t>
            </a:r>
            <a:r>
              <a:rPr lang="hu-HU" dirty="0" err="1"/>
              <a:t>ALOHA</a:t>
            </a:r>
            <a:r>
              <a:rPr lang="hu-HU" dirty="0"/>
              <a:t> </a:t>
            </a:r>
            <a:r>
              <a:rPr lang="hu-HU" dirty="0" err="1"/>
              <a:t>vs</a:t>
            </a:r>
            <a:r>
              <a:rPr lang="hu-HU" dirty="0"/>
              <a:t>. </a:t>
            </a:r>
            <a:r>
              <a:rPr lang="hu-HU" dirty="0" err="1"/>
              <a:t>CSMA</a:t>
            </a:r>
            <a:r>
              <a:rPr lang="hu-HU" dirty="0"/>
              <a:t>/CA.</a:t>
            </a:r>
          </a:p>
          <a:p>
            <a:pPr lvl="1"/>
            <a:r>
              <a:rPr lang="hu-HU" i="1" dirty="0"/>
              <a:t>Megbízhatóság (</a:t>
            </a:r>
            <a:r>
              <a:rPr lang="hu-HU" i="1" dirty="0" err="1"/>
              <a:t>ARQ</a:t>
            </a:r>
            <a:r>
              <a:rPr lang="hu-HU" i="1" dirty="0"/>
              <a:t> Limit):</a:t>
            </a:r>
            <a:r>
              <a:rPr lang="hu-HU" dirty="0"/>
              <a:t> 0, 1, 3, vagy 5 </a:t>
            </a:r>
            <a:r>
              <a:rPr lang="hu-HU" dirty="0" err="1"/>
              <a:t>újraküldés</a:t>
            </a:r>
            <a:r>
              <a:rPr lang="hu-HU" dirty="0"/>
              <a:t>.</a:t>
            </a:r>
          </a:p>
          <a:p>
            <a:pPr lvl="1"/>
            <a:r>
              <a:rPr lang="hu-HU" i="1" dirty="0"/>
              <a:t>Adási teljesítmény (</a:t>
            </a:r>
            <a:r>
              <a:rPr lang="hu-HU" i="1" dirty="0" err="1"/>
              <a:t>TX</a:t>
            </a:r>
            <a:r>
              <a:rPr lang="hu-HU" i="1" dirty="0"/>
              <a:t> </a:t>
            </a:r>
            <a:r>
              <a:rPr lang="hu-HU" i="1" dirty="0" err="1"/>
              <a:t>Power</a:t>
            </a:r>
            <a:r>
              <a:rPr lang="hu-HU" i="1" dirty="0"/>
              <a:t>):</a:t>
            </a:r>
            <a:r>
              <a:rPr lang="hu-HU" dirty="0"/>
              <a:t> Alacsony, Közepes, Magas.</a:t>
            </a:r>
          </a:p>
          <a:p>
            <a:r>
              <a:rPr lang="hu-HU" b="1" dirty="0"/>
              <a:t>Mérőszámok (Célfüggvények):</a:t>
            </a:r>
            <a:endParaRPr lang="hu-HU" dirty="0"/>
          </a:p>
          <a:p>
            <a:pPr lvl="1"/>
            <a:r>
              <a:rPr lang="hu-HU" dirty="0" err="1"/>
              <a:t>Csomagcélbaérési</a:t>
            </a:r>
            <a:r>
              <a:rPr lang="hu-HU" dirty="0"/>
              <a:t> arány (</a:t>
            </a:r>
            <a:r>
              <a:rPr lang="hu-HU" dirty="0" err="1"/>
              <a:t>PDR</a:t>
            </a:r>
            <a:r>
              <a:rPr lang="hu-HU" dirty="0"/>
              <a:t>) maximalizálása.</a:t>
            </a:r>
          </a:p>
          <a:p>
            <a:pPr lvl="1"/>
            <a:r>
              <a:rPr lang="hu-HU" dirty="0"/>
              <a:t>Hálózati Energiafogyasztás (Joule) minimalizálása.</a:t>
            </a:r>
          </a:p>
        </p:txBody>
      </p:sp>
    </p:spTree>
    <p:extLst>
      <p:ext uri="{BB962C8B-B14F-4D97-AF65-F5344CB8AC3E}">
        <p14:creationId xmlns:p14="http://schemas.microsoft.com/office/powerpoint/2010/main" val="355927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D1A91A-0776-77E7-6A38-21E106F7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061" y="411933"/>
            <a:ext cx="9905998" cy="1905000"/>
          </a:xfrm>
        </p:spPr>
        <p:txBody>
          <a:bodyPr/>
          <a:lstStyle/>
          <a:p>
            <a:r>
              <a:rPr lang="hu-HU" dirty="0"/>
              <a:t>Eredmények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BEB3C1-2C6C-885F-9423-1662E5F06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186" y="1761653"/>
            <a:ext cx="5957755" cy="4684414"/>
          </a:xfrm>
        </p:spPr>
        <p:txBody>
          <a:bodyPr>
            <a:normAutofit/>
          </a:bodyPr>
          <a:lstStyle/>
          <a:p>
            <a:r>
              <a:rPr lang="hu-HU" b="1" dirty="0">
                <a:effectLst/>
              </a:rPr>
              <a:t>Intelligens Tömörítés Eredménye:</a:t>
            </a:r>
            <a:r>
              <a:rPr lang="hu-HU" dirty="0">
                <a:effectLst/>
              </a:rPr>
              <a:t> Az Edge </a:t>
            </a:r>
            <a:r>
              <a:rPr lang="hu-HU" dirty="0" err="1">
                <a:effectLst/>
              </a:rPr>
              <a:t>AI</a:t>
            </a:r>
            <a:r>
              <a:rPr lang="hu-HU" dirty="0">
                <a:effectLst/>
              </a:rPr>
              <a:t> és az </a:t>
            </a:r>
            <a:r>
              <a:rPr lang="hu-HU" dirty="0" err="1">
                <a:effectLst/>
              </a:rPr>
              <a:t>aggregáció</a:t>
            </a:r>
            <a:r>
              <a:rPr lang="hu-HU" dirty="0">
                <a:effectLst/>
              </a:rPr>
              <a:t> önmagában </a:t>
            </a:r>
            <a:r>
              <a:rPr lang="hu-HU" b="1" dirty="0">
                <a:effectLst/>
              </a:rPr>
              <a:t>&gt;95%-os sávszélesség-megtakarítást</a:t>
            </a:r>
            <a:r>
              <a:rPr lang="hu-HU" dirty="0">
                <a:effectLst/>
              </a:rPr>
              <a:t> ért el (csak a valódi anomáliák kerültek a csatornára). A </a:t>
            </a:r>
            <a:r>
              <a:rPr lang="hu-HU" dirty="0" err="1">
                <a:effectLst/>
              </a:rPr>
              <a:t>Replay</a:t>
            </a:r>
            <a:r>
              <a:rPr lang="hu-HU" dirty="0">
                <a:effectLst/>
              </a:rPr>
              <a:t>-védelem sikeresen blokkolta az azonosított behatolási kísérleteket.</a:t>
            </a:r>
          </a:p>
          <a:p>
            <a:r>
              <a:rPr lang="hu-HU" b="1" dirty="0">
                <a:effectLst/>
              </a:rPr>
              <a:t>A </a:t>
            </a:r>
            <a:r>
              <a:rPr lang="hu-HU" b="1" dirty="0" err="1">
                <a:effectLst/>
              </a:rPr>
              <a:t>Pareto</a:t>
            </a:r>
            <a:r>
              <a:rPr lang="hu-HU" b="1" dirty="0">
                <a:effectLst/>
              </a:rPr>
              <a:t>-Front (A Trade-</a:t>
            </a:r>
            <a:r>
              <a:rPr lang="hu-HU" b="1" dirty="0" err="1">
                <a:effectLst/>
              </a:rPr>
              <a:t>off</a:t>
            </a:r>
            <a:r>
              <a:rPr lang="hu-HU" b="1" dirty="0">
                <a:effectLst/>
              </a:rPr>
              <a:t> görbe):</a:t>
            </a:r>
            <a:endParaRPr lang="hu-HU" dirty="0">
              <a:effectLst/>
            </a:endParaRPr>
          </a:p>
          <a:p>
            <a:pPr lvl="1"/>
            <a:r>
              <a:rPr lang="hu-HU" i="1" dirty="0">
                <a:effectLst/>
              </a:rPr>
              <a:t>Szélsőség 1 ("</a:t>
            </a:r>
            <a:r>
              <a:rPr lang="hu-HU" i="1" dirty="0" err="1">
                <a:effectLst/>
              </a:rPr>
              <a:t>Brute</a:t>
            </a:r>
            <a:r>
              <a:rPr lang="hu-HU" i="1" dirty="0">
                <a:effectLst/>
              </a:rPr>
              <a:t> </a:t>
            </a:r>
            <a:r>
              <a:rPr lang="hu-HU" i="1" dirty="0" err="1">
                <a:effectLst/>
              </a:rPr>
              <a:t>Force</a:t>
            </a:r>
            <a:r>
              <a:rPr lang="hu-HU" i="1" dirty="0">
                <a:effectLst/>
              </a:rPr>
              <a:t>"):</a:t>
            </a:r>
            <a:r>
              <a:rPr lang="hu-HU" dirty="0">
                <a:effectLst/>
              </a:rPr>
              <a:t> Magas </a:t>
            </a:r>
            <a:r>
              <a:rPr lang="hu-HU" dirty="0" err="1">
                <a:effectLst/>
              </a:rPr>
              <a:t>TX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power</a:t>
            </a:r>
            <a:r>
              <a:rPr lang="hu-HU" dirty="0">
                <a:effectLst/>
              </a:rPr>
              <a:t>, sok </a:t>
            </a:r>
            <a:r>
              <a:rPr lang="hu-HU" dirty="0" err="1">
                <a:effectLst/>
              </a:rPr>
              <a:t>újraküldés</a:t>
            </a:r>
            <a:r>
              <a:rPr lang="hu-HU" dirty="0">
                <a:effectLst/>
              </a:rPr>
              <a:t> $\</a:t>
            </a:r>
            <a:r>
              <a:rPr lang="hu-HU" dirty="0" err="1">
                <a:effectLst/>
              </a:rPr>
              <a:t>rightarrow</a:t>
            </a:r>
            <a:r>
              <a:rPr lang="hu-HU" dirty="0">
                <a:effectLst/>
              </a:rPr>
              <a:t>$ Közel 100% </a:t>
            </a:r>
            <a:r>
              <a:rPr lang="hu-HU" dirty="0" err="1">
                <a:effectLst/>
              </a:rPr>
              <a:t>PDR</a:t>
            </a:r>
            <a:r>
              <a:rPr lang="hu-HU" dirty="0">
                <a:effectLst/>
              </a:rPr>
              <a:t>, de brutális energiafogyasztás.</a:t>
            </a:r>
          </a:p>
          <a:p>
            <a:pPr lvl="1"/>
            <a:r>
              <a:rPr lang="hu-HU" i="1" dirty="0">
                <a:effectLst/>
              </a:rPr>
              <a:t>Szélsőség 2 ("Túl optimista"):</a:t>
            </a:r>
            <a:r>
              <a:rPr lang="hu-HU" dirty="0">
                <a:effectLst/>
              </a:rPr>
              <a:t> Alacsony </a:t>
            </a:r>
            <a:r>
              <a:rPr lang="hu-HU" dirty="0" err="1">
                <a:effectLst/>
              </a:rPr>
              <a:t>TX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power</a:t>
            </a:r>
            <a:r>
              <a:rPr lang="hu-HU" dirty="0">
                <a:effectLst/>
              </a:rPr>
              <a:t>, nulla </a:t>
            </a:r>
            <a:r>
              <a:rPr lang="hu-HU" dirty="0" err="1">
                <a:effectLst/>
              </a:rPr>
              <a:t>újraküldés</a:t>
            </a:r>
            <a:r>
              <a:rPr lang="hu-HU" dirty="0">
                <a:effectLst/>
              </a:rPr>
              <a:t> $\</a:t>
            </a:r>
            <a:r>
              <a:rPr lang="hu-HU" dirty="0" err="1">
                <a:effectLst/>
              </a:rPr>
              <a:t>rightarrow</a:t>
            </a:r>
            <a:r>
              <a:rPr lang="hu-HU" dirty="0">
                <a:effectLst/>
              </a:rPr>
              <a:t>$ Minimális energia, de kritikus adatvesztés (alacsony </a:t>
            </a:r>
            <a:r>
              <a:rPr lang="hu-HU" dirty="0" err="1">
                <a:effectLst/>
              </a:rPr>
              <a:t>PDR</a:t>
            </a:r>
            <a:r>
              <a:rPr lang="hu-HU" dirty="0">
                <a:effectLst/>
              </a:rPr>
              <a:t>).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721AB03-4577-CF23-B426-4D03FB181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941" y="1910442"/>
            <a:ext cx="5441117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FA8C6A-8F23-BEAC-7847-7FC6319E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Melyik beállítást választjuk?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6CEF272-1764-63C8-4DEC-3BCD7D0FF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32433"/>
            <a:ext cx="9905998" cy="3124201"/>
          </a:xfrm>
        </p:spPr>
        <p:txBody>
          <a:bodyPr/>
          <a:lstStyle/>
          <a:p>
            <a:r>
              <a:rPr lang="hu-HU" b="1" dirty="0"/>
              <a:t>A Kiválasztott "Arany Középút":</a:t>
            </a:r>
            <a:r>
              <a:rPr lang="hu-HU" dirty="0"/>
              <a:t> Közepes adási teljesítmény, </a:t>
            </a:r>
            <a:r>
              <a:rPr lang="hu-HU" dirty="0" err="1"/>
              <a:t>CSMA</a:t>
            </a:r>
            <a:r>
              <a:rPr lang="hu-HU" dirty="0"/>
              <a:t>/CA protokoll, 3-as limitű </a:t>
            </a:r>
            <a:r>
              <a:rPr lang="hu-HU" dirty="0" err="1"/>
              <a:t>ARQ</a:t>
            </a:r>
            <a:r>
              <a:rPr lang="hu-HU" dirty="0"/>
              <a:t> (</a:t>
            </a:r>
            <a:r>
              <a:rPr lang="hu-HU" dirty="0" err="1"/>
              <a:t>újraküldés</a:t>
            </a:r>
            <a:r>
              <a:rPr lang="hu-HU" dirty="0"/>
              <a:t>).</a:t>
            </a:r>
          </a:p>
          <a:p>
            <a:r>
              <a:rPr lang="hu-HU" b="1" dirty="0"/>
              <a:t>Az Indoklás:</a:t>
            </a:r>
            <a:r>
              <a:rPr lang="hu-HU" dirty="0"/>
              <a:t> * A matematikai dominancia-vizsgálat megmutatta, hogy ezen a ponton a </a:t>
            </a:r>
            <a:r>
              <a:rPr lang="hu-HU" dirty="0" err="1"/>
              <a:t>PDR</a:t>
            </a:r>
            <a:r>
              <a:rPr lang="hu-HU" dirty="0"/>
              <a:t> biztonságos, 90% feletti tartományban marad.</a:t>
            </a:r>
          </a:p>
          <a:p>
            <a:r>
              <a:rPr lang="hu-HU" dirty="0"/>
              <a:t>Az energiafogyasztás a "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" beállítás töredéke, ami lehetővé teszi a hálózat többéves, elemcsere nélküli üzemelését. A </a:t>
            </a:r>
            <a:r>
              <a:rPr lang="hu-HU" dirty="0" err="1"/>
              <a:t>CSMA</a:t>
            </a:r>
            <a:r>
              <a:rPr lang="hu-HU" dirty="0"/>
              <a:t>/CA sikeresen megakadályozta az ütközések nagy részét, a 3-as </a:t>
            </a:r>
            <a:r>
              <a:rPr lang="hu-HU" dirty="0" err="1"/>
              <a:t>ARQ</a:t>
            </a:r>
            <a:r>
              <a:rPr lang="hu-HU" dirty="0"/>
              <a:t> pedig kompenzálta a csatornazajt.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29789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D6E48F-E834-6B62-D10E-6684440F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Tanulságok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ABC772-C4FC-9DF7-24B2-9D13DB756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37853"/>
            <a:ext cx="9905998" cy="3953347"/>
          </a:xfrm>
        </p:spPr>
        <p:txBody>
          <a:bodyPr>
            <a:normAutofit/>
          </a:bodyPr>
          <a:lstStyle/>
          <a:p>
            <a:r>
              <a:rPr lang="hu-HU" b="1" dirty="0"/>
              <a:t>Rendszerszintű gondolkodás:</a:t>
            </a:r>
            <a:r>
              <a:rPr lang="hu-HU" dirty="0"/>
              <a:t> A </a:t>
            </a:r>
            <a:r>
              <a:rPr lang="hu-HU" dirty="0" err="1"/>
              <a:t>WSN</a:t>
            </a:r>
            <a:r>
              <a:rPr lang="hu-HU" dirty="0"/>
              <a:t> hálózatokban nincsenek "tökéletes" beállítások, csak kompromisszumok (trade-</a:t>
            </a:r>
            <a:r>
              <a:rPr lang="hu-HU" dirty="0" err="1"/>
              <a:t>offok</a:t>
            </a:r>
            <a:r>
              <a:rPr lang="hu-HU" dirty="0"/>
              <a:t>). Egy paraméter (pl. </a:t>
            </a:r>
            <a:r>
              <a:rPr lang="hu-HU" dirty="0" err="1"/>
              <a:t>TX</a:t>
            </a:r>
            <a:r>
              <a:rPr lang="hu-HU" dirty="0"/>
              <a:t> </a:t>
            </a:r>
            <a:r>
              <a:rPr lang="hu-HU" dirty="0" err="1"/>
              <a:t>power</a:t>
            </a:r>
            <a:r>
              <a:rPr lang="hu-HU" dirty="0"/>
              <a:t>) növelése lavinaszerű hatással van az energiára.</a:t>
            </a:r>
          </a:p>
          <a:p>
            <a:r>
              <a:rPr lang="hu-HU" b="1" dirty="0"/>
              <a:t>Az Edge </a:t>
            </a:r>
            <a:r>
              <a:rPr lang="hu-HU" b="1" dirty="0" err="1"/>
              <a:t>AI</a:t>
            </a:r>
            <a:r>
              <a:rPr lang="hu-HU" b="1" dirty="0"/>
              <a:t> ereje:</a:t>
            </a:r>
            <a:r>
              <a:rPr lang="hu-HU" dirty="0"/>
              <a:t> Az adatok helyi (</a:t>
            </a:r>
            <a:r>
              <a:rPr lang="hu-HU" dirty="0" err="1"/>
              <a:t>node</a:t>
            </a:r>
            <a:r>
              <a:rPr lang="hu-HU" dirty="0"/>
              <a:t>-oldali) feldolgozása nagyságrendekkel több energiát takarít meg, mint bármilyen MAC-szintű </a:t>
            </a:r>
            <a:r>
              <a:rPr lang="hu-HU" dirty="0" err="1"/>
              <a:t>trükközés</a:t>
            </a:r>
            <a:r>
              <a:rPr lang="hu-HU" dirty="0"/>
              <a:t>. "A legolcsóbb bit az, amit el sem küldünk."</a:t>
            </a:r>
          </a:p>
          <a:p>
            <a:r>
              <a:rPr lang="hu-HU" b="1" dirty="0"/>
              <a:t>A Szimuláció Értéke:</a:t>
            </a:r>
            <a:r>
              <a:rPr lang="hu-HU" dirty="0"/>
              <a:t> A diszkrét eseményű szimuláció (</a:t>
            </a:r>
            <a:r>
              <a:rPr lang="hu-HU" dirty="0" err="1"/>
              <a:t>DES</a:t>
            </a:r>
            <a:r>
              <a:rPr lang="hu-HU" dirty="0"/>
              <a:t>) és az automatizált </a:t>
            </a:r>
            <a:r>
              <a:rPr lang="hu-HU" dirty="0" err="1"/>
              <a:t>Pareto</a:t>
            </a:r>
            <a:r>
              <a:rPr lang="hu-HU" dirty="0"/>
              <a:t>-szűrés nélkül lehetetlen lett volna kitalálni az optimális paramétereket egy 100 csomópontos hálózatban.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57452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Szit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zit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zit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8</TotalTime>
  <Words>525</Words>
  <Application>Microsoft Office PowerPoint</Application>
  <PresentationFormat>Szélesvásznú</PresentationFormat>
  <Paragraphs>37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Szita</vt:lpstr>
      <vt:lpstr>Vezeték Nélküli Szenzorhálózatok Tervezési Kompromisszumai</vt:lpstr>
      <vt:lpstr>A Probléma</vt:lpstr>
      <vt:lpstr>A Modell</vt:lpstr>
      <vt:lpstr>Kísérletek</vt:lpstr>
      <vt:lpstr>Eredmények </vt:lpstr>
      <vt:lpstr>Melyik beállítást választjuk?</vt:lpstr>
      <vt:lpstr>Tanulságok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Zrt. IKV</dc:creator>
  <cp:lastModifiedBy>Zrt. IKV</cp:lastModifiedBy>
  <cp:revision>2</cp:revision>
  <dcterms:created xsi:type="dcterms:W3CDTF">2026-05-16T19:51:55Z</dcterms:created>
  <dcterms:modified xsi:type="dcterms:W3CDTF">2026-05-16T20:00:41Z</dcterms:modified>
</cp:coreProperties>
</file>